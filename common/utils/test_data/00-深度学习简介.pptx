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3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  <p:sldMasterId id="2147483660" r:id="rId4"/>
    <p:sldMasterId id="2147483664" r:id="rId5"/>
    <p:sldMasterId id="2147483666" r:id="rId6"/>
    <p:sldMasterId id="2147483669" r:id="rId7"/>
    <p:sldMasterId id="2147483689" r:id="rId8"/>
    <p:sldMasterId id="2147483701" r:id="rId9"/>
    <p:sldMasterId id="2147483713" r:id="rId10"/>
    <p:sldMasterId id="2147483715" r:id="rId11"/>
    <p:sldMasterId id="2147483734" r:id="rId12"/>
  </p:sldMasterIdLst>
  <p:notesMasterIdLst>
    <p:notesMasterId r:id="rId14"/>
  </p:notesMasterIdLst>
  <p:handoutMasterIdLst>
    <p:handoutMasterId r:id="rId25"/>
  </p:handoutMasterIdLst>
  <p:sldIdLst>
    <p:sldId id="462" r:id="rId13"/>
    <p:sldId id="1568" r:id="rId15"/>
    <p:sldId id="1570" r:id="rId16"/>
    <p:sldId id="1661" r:id="rId17"/>
    <p:sldId id="1797" r:id="rId18"/>
    <p:sldId id="1798" r:id="rId19"/>
    <p:sldId id="1662" r:id="rId20"/>
    <p:sldId id="1794" r:id="rId21"/>
    <p:sldId id="1799" r:id="rId22"/>
    <p:sldId id="1795" r:id="rId23"/>
    <p:sldId id="264" r:id="rId24"/>
  </p:sldIdLst>
  <p:sldSz cx="12192000" cy="6858000"/>
  <p:notesSz cx="6858000" cy="9144000"/>
  <p:custDataLst>
    <p:tags r:id="rId3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92" userDrawn="1">
          <p15:clr>
            <a:srgbClr val="A4A3A4"/>
          </p15:clr>
        </p15:guide>
        <p15:guide id="2" pos="370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NGJIAN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AD2A26"/>
    <a:srgbClr val="AD2B26"/>
    <a:srgbClr val="49504F"/>
    <a:srgbClr val="B60206"/>
    <a:srgbClr val="B70006"/>
    <a:srgbClr val="FFFFE4"/>
    <a:srgbClr val="919191"/>
    <a:srgbClr val="333333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445" autoAdjust="0"/>
    <p:restoredTop sz="95344" autoAdjust="0"/>
  </p:normalViewPr>
  <p:slideViewPr>
    <p:cSldViewPr snapToGrid="0" showGuides="1">
      <p:cViewPr varScale="1">
        <p:scale>
          <a:sx n="86" d="100"/>
          <a:sy n="86" d="100"/>
        </p:scale>
        <p:origin x="224" y="1008"/>
      </p:cViewPr>
      <p:guideLst>
        <p:guide orient="horz" pos="592"/>
        <p:guide pos="370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0" Type="http://schemas.openxmlformats.org/officeDocument/2006/relationships/tags" Target="tags/tag29.xml"/><Relationship Id="rId3" Type="http://schemas.openxmlformats.org/officeDocument/2006/relationships/slideMaster" Target="slideMasters/slideMaster2.xml"/><Relationship Id="rId29" Type="http://schemas.openxmlformats.org/officeDocument/2006/relationships/commentAuthors" Target="commentAuthors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slide" Target="slides/slide11.xml"/><Relationship Id="rId23" Type="http://schemas.openxmlformats.org/officeDocument/2006/relationships/slide" Target="slides/slide10.xml"/><Relationship Id="rId22" Type="http://schemas.openxmlformats.org/officeDocument/2006/relationships/slide" Target="slides/slide9.xml"/><Relationship Id="rId21" Type="http://schemas.openxmlformats.org/officeDocument/2006/relationships/slide" Target="slides/slide8.xml"/><Relationship Id="rId20" Type="http://schemas.openxmlformats.org/officeDocument/2006/relationships/slide" Target="slides/slide7.xml"/><Relationship Id="rId2" Type="http://schemas.openxmlformats.org/officeDocument/2006/relationships/theme" Target="theme/theme1.xml"/><Relationship Id="rId19" Type="http://schemas.openxmlformats.org/officeDocument/2006/relationships/slide" Target="slides/slide6.xml"/><Relationship Id="rId18" Type="http://schemas.openxmlformats.org/officeDocument/2006/relationships/slide" Target="slides/slide5.xml"/><Relationship Id="rId17" Type="http://schemas.openxmlformats.org/officeDocument/2006/relationships/slide" Target="slides/slide4.xml"/><Relationship Id="rId16" Type="http://schemas.openxmlformats.org/officeDocument/2006/relationships/slide" Target="slides/slide3.xml"/><Relationship Id="rId15" Type="http://schemas.openxmlformats.org/officeDocument/2006/relationships/slide" Target="slides/slide2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思考</a:t>
            </a:r>
            <a:endParaRPr lang="zh-CN" altLang="en-US" sz="40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  <a:endPara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>
              <a:defRPr b="0" i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3pPr>
            <a:lvl4pPr>
              <a:defRPr b="0" i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4pPr>
            <a:lvl5pPr>
              <a:defRPr b="0" i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>
              <a:defRPr b="0" i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3pPr>
            <a:lvl4pPr>
              <a:defRPr b="0" i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4pPr>
            <a:lvl5pPr>
              <a:defRPr b="0" i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互动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拓展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思考</a:t>
            </a:r>
            <a:endParaRPr lang="zh-CN" altLang="en-US" sz="40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  <a:endPara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思路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今日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作业</a:t>
            </a:r>
            <a:endParaRPr lang="zh-CN" altLang="en-US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互动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拓展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思考</a:t>
            </a:r>
            <a:endParaRPr lang="zh-CN" altLang="en-US" sz="40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  <a:endPara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思路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今日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作业</a:t>
            </a:r>
            <a:endParaRPr lang="zh-CN" altLang="en-US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  <a:endPara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heme" Target="../theme/theme2.xml"/><Relationship Id="rId8" Type="http://schemas.openxmlformats.org/officeDocument/2006/relationships/slideLayout" Target="../slideLayouts/slideLayout10.xml"/><Relationship Id="rId7" Type="http://schemas.openxmlformats.org/officeDocument/2006/relationships/slideLayout" Target="../slideLayouts/slideLayout9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6" Type="http://schemas.openxmlformats.org/officeDocument/2006/relationships/theme" Target="../theme/theme3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5.xml"/><Relationship Id="rId8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9.xml"/><Relationship Id="rId21" Type="http://schemas.openxmlformats.org/officeDocument/2006/relationships/theme" Target="../theme/theme6.xml"/><Relationship Id="rId20" Type="http://schemas.openxmlformats.org/officeDocument/2006/relationships/image" Target="../media/image6.png"/><Relationship Id="rId2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6.xml"/><Relationship Id="rId1" Type="http://schemas.openxmlformats.org/officeDocument/2006/relationships/slideLayout" Target="../slideLayouts/slideLayout17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4.xml"/><Relationship Id="rId8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1.xml"/><Relationship Id="rId5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7.xml"/><Relationship Id="rId12" Type="http://schemas.openxmlformats.org/officeDocument/2006/relationships/theme" Target="../theme/theme7.xml"/><Relationship Id="rId11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45.xml"/><Relationship Id="rId1" Type="http://schemas.openxmlformats.org/officeDocument/2006/relationships/slideLayout" Target="../slideLayouts/slideLayout36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5.xml"/><Relationship Id="rId8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2.xml"/><Relationship Id="rId5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0.xml"/><Relationship Id="rId3" Type="http://schemas.openxmlformats.org/officeDocument/2006/relationships/slideLayout" Target="../slideLayouts/slideLayout49.xml"/><Relationship Id="rId2" Type="http://schemas.openxmlformats.org/officeDocument/2006/relationships/slideLayout" Target="../slideLayouts/slideLayout48.xml"/><Relationship Id="rId12" Type="http://schemas.openxmlformats.org/officeDocument/2006/relationships/theme" Target="../theme/theme8.xml"/><Relationship Id="rId11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56.xml"/><Relationship Id="rId1" Type="http://schemas.openxmlformats.org/officeDocument/2006/relationships/slideLayout" Target="../slideLayouts/slideLayout47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theme" Target="../theme/theme9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8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7.xml"/><Relationship Id="rId8" Type="http://schemas.openxmlformats.org/officeDocument/2006/relationships/slideLayout" Target="../slideLayouts/slideLayout66.xml"/><Relationship Id="rId7" Type="http://schemas.openxmlformats.org/officeDocument/2006/relationships/slideLayout" Target="../slideLayouts/slideLayout65.xml"/><Relationship Id="rId6" Type="http://schemas.openxmlformats.org/officeDocument/2006/relationships/slideLayout" Target="../slideLayouts/slideLayout64.xml"/><Relationship Id="rId5" Type="http://schemas.openxmlformats.org/officeDocument/2006/relationships/slideLayout" Target="../slideLayouts/slideLayout63.xml"/><Relationship Id="rId4" Type="http://schemas.openxmlformats.org/officeDocument/2006/relationships/slideLayout" Target="../slideLayouts/slideLayout62.xml"/><Relationship Id="rId3" Type="http://schemas.openxmlformats.org/officeDocument/2006/relationships/slideLayout" Target="../slideLayouts/slideLayout61.xml"/><Relationship Id="rId20" Type="http://schemas.openxmlformats.org/officeDocument/2006/relationships/theme" Target="../theme/theme10.xml"/><Relationship Id="rId2" Type="http://schemas.openxmlformats.org/officeDocument/2006/relationships/slideLayout" Target="../slideLayouts/slideLayout60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76.xml"/><Relationship Id="rId17" Type="http://schemas.openxmlformats.org/officeDocument/2006/relationships/slideLayout" Target="../slideLayouts/slideLayout75.xml"/><Relationship Id="rId16" Type="http://schemas.openxmlformats.org/officeDocument/2006/relationships/slideLayout" Target="../slideLayouts/slideLayout74.xml"/><Relationship Id="rId15" Type="http://schemas.openxmlformats.org/officeDocument/2006/relationships/slideLayout" Target="../slideLayouts/slideLayout73.xml"/><Relationship Id="rId14" Type="http://schemas.openxmlformats.org/officeDocument/2006/relationships/slideLayout" Target="../slideLayouts/slideLayout72.xml"/><Relationship Id="rId13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68.xml"/><Relationship Id="rId1" Type="http://schemas.openxmlformats.org/officeDocument/2006/relationships/slideLayout" Target="../slideLayouts/slideLayout59.xml"/></Relationships>
</file>

<file path=ppt/slideMasters/_rels/slideMaster1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80.xml"/><Relationship Id="rId3" Type="http://schemas.openxmlformats.org/officeDocument/2006/relationships/slideLayout" Target="../slideLayouts/slideLayout79.xml"/><Relationship Id="rId2" Type="http://schemas.openxmlformats.org/officeDocument/2006/relationships/slideLayout" Target="../slideLayouts/slideLayout78.xml"/><Relationship Id="rId1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pitchFamily="18" charset="-122"/>
          <a:ea typeface="阿里巴巴普惠体 R" panose="00020600040101010101" pitchFamily="18" charset="-122"/>
          <a:cs typeface="阿里巴巴普惠体 R" panose="00020600040101010101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pitchFamily="18" charset="-122"/>
          <a:ea typeface="阿里巴巴普惠体 R" panose="00020600040101010101" pitchFamily="18" charset="-122"/>
          <a:cs typeface="阿里巴巴普惠体 R" panose="00020600040101010101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多一句没有，少一句不行，用最短时间，教会更实用的技术！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4982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697720" y="6582410"/>
            <a:ext cx="2494280" cy="307975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755505" y="6555105"/>
            <a:ext cx="243649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高级AI人才培训专家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  <p:sldLayoutId id="2147483688" r:id="rId19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666EC5-0109-4184-8118-DE9082C053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3B4646-813A-4832-A50F-60E1A3E629C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26C-D819-40E4-B45D-2F58886970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2DCFA-08CF-4827-BDC7-221D1537336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多一句没有，少一句不行，用最短时间，教会最实用的技术！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  <p:sldLayoutId id="2147483728" r:id="rId13"/>
    <p:sldLayoutId id="2147483729" r:id="rId14"/>
    <p:sldLayoutId id="2147483730" r:id="rId15"/>
    <p:sldLayoutId id="2147483731" r:id="rId16"/>
    <p:sldLayoutId id="2147483732" r:id="rId17"/>
    <p:sldLayoutId id="2147483733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pitchFamily="18" charset="-122"/>
          <a:ea typeface="阿里巴巴普惠体 R" panose="00020600040101010101" pitchFamily="18" charset="-122"/>
          <a:cs typeface="阿里巴巴普惠体 R" panose="00020600040101010101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slideLayout" Target="../slideLayouts/slideLayout17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5" Type="http://schemas.openxmlformats.org/officeDocument/2006/relationships/slideLayout" Target="../slideLayouts/slideLayout17.xml"/><Relationship Id="rId14" Type="http://schemas.openxmlformats.org/officeDocument/2006/relationships/tags" Target="../tags/tag28.xml"/><Relationship Id="rId13" Type="http://schemas.openxmlformats.org/officeDocument/2006/relationships/tags" Target="../tags/tag27.xml"/><Relationship Id="rId12" Type="http://schemas.openxmlformats.org/officeDocument/2006/relationships/tags" Target="../tags/tag26.xml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tags" Target="../tags/tag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25500" y="2158365"/>
            <a:ext cx="10541000" cy="1158875"/>
          </a:xfrm>
        </p:spPr>
        <p:txBody>
          <a:bodyPr/>
          <a:lstStyle/>
          <a:p>
            <a:r>
              <a:rPr lang="zh-CN" altLang="en-US" sz="6600" dirty="0">
                <a:solidFill>
                  <a:schemeClr val="tx1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深度学习简介</a:t>
            </a:r>
            <a:endParaRPr lang="zh-CN" altLang="en-US" sz="6600" dirty="0">
              <a:solidFill>
                <a:schemeClr val="tx1"/>
              </a:solidFill>
              <a:latin typeface="阿里巴巴普惠体" panose="00020600040101010101" charset="-122"/>
              <a:ea typeface="阿里巴巴普惠体" panose="00020600040101010101" charset="-122"/>
            </a:endParaRPr>
          </a:p>
        </p:txBody>
      </p:sp>
      <p:pic>
        <p:nvPicPr>
          <p:cNvPr id="6" name="图片 5" descr="01 (140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6720" y="4218305"/>
            <a:ext cx="1179195" cy="11791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知道什么是深度学习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知道深度学习应用场景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了解深度学习发展史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什么是深度学习</a:t>
            </a:r>
            <a:endParaRPr lang="zh-CN" alt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710565" y="1447800"/>
            <a:ext cx="10699115" cy="4763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500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5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500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5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500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5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500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5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500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5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500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5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机器学习是实现人工智能的一种途径</a:t>
            </a:r>
            <a:r>
              <a:rPr lang="zh-CN" altLang="en-US" dirty="0">
                <a:solidFill>
                  <a:srgbClr val="333333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。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深度学习是机器学习的一个子集，也就是说深度学习是实现机器学习的一种方法。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algn="l" rtl="0" eaLnBrk="0" fontAlgn="base" latinLnBrk="0" hangingPunct="0">
              <a:lnSpc>
                <a:spcPct val="100000"/>
              </a:lnSpc>
              <a:buClrTx/>
              <a:buSzTx/>
              <a:buNone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深度学习是机器学习中一种基于对数据进行特征学习的算法。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algn="l" rtl="0" eaLnBrk="0" fontAlgn="base" latinLnBrk="0" hangingPunct="0">
              <a:lnSpc>
                <a:spcPct val="100000"/>
              </a:lnSpc>
              <a:buClrTx/>
              <a:buSzTx/>
              <a:buNone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深度学习是</a:t>
            </a:r>
            <a:r>
              <a:rPr lang="zh-CN" altLang="en-US"/>
              <a:t>基于人工神经网络，深度是指网络中使用多层，每层都通过非线性变换处理数据，并逐渐提取出更复杂、更抽象的</a:t>
            </a:r>
            <a:r>
              <a:rPr lang="zh-CN" altLang="en-US"/>
              <a:t>特征。</a:t>
            </a:r>
            <a:endParaRPr lang="zh-CN" altLang="en-US"/>
          </a:p>
          <a:p>
            <a:pPr marL="0" marR="0" lvl="0" algn="l" rtl="0" eaLnBrk="0" fontAlgn="base" latinLnBrk="0" hangingPunct="0">
              <a:lnSpc>
                <a:spcPct val="100000"/>
              </a:lnSpc>
              <a:buClrTx/>
              <a:buSzTx/>
              <a:buNone/>
            </a:pP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500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5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8661" y="1448296"/>
            <a:ext cx="6066046" cy="32006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什么是深度学习</a:t>
            </a:r>
            <a:endParaRPr lang="zh-CN" alt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710565" y="1088390"/>
            <a:ext cx="10281285" cy="5770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5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500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5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500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5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500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5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500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5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500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5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500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5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kumimoji="0" lang="en-US" altLang="zh-CN" sz="15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kumimoji="0" lang="en-US" altLang="zh-CN" sz="15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kumimoji="0" lang="en-US" altLang="zh-CN" sz="15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kumimoji="0" lang="en-US" altLang="zh-CN" sz="15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kumimoji="0" lang="zh-CN" altLang="zh-CN" sz="15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传统机器学习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算法依赖人工设计特征，并进行特征提取；而深度学习方法不需要人工，而是依赖算法自动提取特征。</a:t>
            </a:r>
            <a:endParaRPr kumimoji="0" lang="en-US" altLang="zh-CN" sz="15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深度学习</a:t>
            </a:r>
            <a:r>
              <a:rPr lang="zh-CN" altLang="zh-CN" sz="150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通过模仿人脑的神经网络来处理和分析复杂的数据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，</a:t>
            </a:r>
            <a:r>
              <a:rPr lang="zh-CN" altLang="zh-CN" sz="150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从大量数据中自动提取复杂特征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。这也是深度学习被看做黑盒子，可解释性差的原因。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zh-CN" altLang="zh-CN" sz="150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深度学习尤其擅长处理高维数据，如图像、语音和文本。</a:t>
            </a:r>
            <a:endParaRPr lang="zh-CN" altLang="zh-CN" sz="150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500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5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500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5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7979" y="1677259"/>
            <a:ext cx="6841375" cy="35034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深度学习</a:t>
            </a:r>
            <a:r>
              <a:rPr lang="zh-CN" altLang="en-US" dirty="0"/>
              <a:t>特点</a:t>
            </a:r>
            <a:endParaRPr lang="zh-CN" altLang="en-US" dirty="0"/>
          </a:p>
        </p:txBody>
      </p:sp>
      <p:sp>
        <p:nvSpPr>
          <p:cNvPr id="3" name="文本占位符 2"/>
          <p:cNvSpPr/>
          <p:nvPr>
            <p:ph type="body" sz="quarter" idx="11"/>
          </p:nvPr>
        </p:nvSpPr>
        <p:spPr>
          <a:xfrm>
            <a:off x="710565" y="1398270"/>
            <a:ext cx="10699115" cy="4959350"/>
          </a:xfrm>
        </p:spPr>
        <p:txBody>
          <a:bodyPr/>
          <a:p>
            <a:pPr marL="342900" indent="-342900">
              <a:buFont typeface="+mj-ea"/>
              <a:buAutoNum type="circleNumDbPlain"/>
            </a:pPr>
            <a:r>
              <a:rPr lang="zh-CN" altLang="en-US" b="1"/>
              <a:t>多层非线性变换</a:t>
            </a:r>
            <a:r>
              <a:rPr lang="zh-CN" altLang="en-US"/>
              <a:t>：深度学习模型由多个层次组成，每一层都应用非线性激活函数对输入数据进行变换。较低的层级通常捕捉到简单的特征（如边缘、颜色等），而更高的层级则可以识别更复杂的模式（如物体或面部识别）。</a:t>
            </a:r>
            <a:endParaRPr lang="zh-CN" altLang="en-US"/>
          </a:p>
          <a:p>
            <a:endParaRPr lang="en-US" altLang="zh-CN"/>
          </a:p>
          <a:p>
            <a:pPr marL="342900" indent="-342900">
              <a:buFont typeface="+mj-ea"/>
              <a:buAutoNum type="circleNumDbPlain" startAt="2"/>
            </a:pPr>
            <a:r>
              <a:rPr lang="zh-CN" altLang="en-US" b="1"/>
              <a:t>自动特征提取</a:t>
            </a:r>
            <a:r>
              <a:rPr lang="zh-CN" altLang="en-US"/>
              <a:t>：与传统机器学习算法不同，深度学习能够自动从原始数据中学习到有用的特征，而不需要人工特征工程。这使得深度学习在许多领域中表现出色。</a:t>
            </a:r>
            <a:endParaRPr lang="zh-CN" altLang="en-US"/>
          </a:p>
          <a:p>
            <a:pPr marL="342900" indent="-342900">
              <a:buFont typeface="+mj-ea"/>
              <a:buAutoNum type="circleNumDbPlain" startAt="2"/>
            </a:pPr>
            <a:endParaRPr lang="zh-CN" altLang="en-US" b="1"/>
          </a:p>
          <a:p>
            <a:pPr marL="342900" indent="-342900">
              <a:buFont typeface="+mj-ea"/>
              <a:buAutoNum type="circleNumDbPlain" startAt="2"/>
            </a:pPr>
            <a:r>
              <a:rPr lang="zh-CN" altLang="en-US" b="1"/>
              <a:t>大数据和计算能力</a:t>
            </a:r>
            <a:r>
              <a:rPr lang="zh-CN" altLang="en-US"/>
              <a:t>：深度学习模型通常需要大量的标注数据和强大的计算资源（如</a:t>
            </a:r>
            <a:r>
              <a:rPr lang="en-US" altLang="zh-CN"/>
              <a:t>GPU</a:t>
            </a:r>
            <a:r>
              <a:rPr lang="zh-CN" altLang="en-US"/>
              <a:t>）来进行训练。大数据和高性能计算使得深度学习在图像识别、自然语言处理等领域取得了显著突破。</a:t>
            </a:r>
            <a:endParaRPr lang="zh-CN" altLang="en-US"/>
          </a:p>
          <a:p>
            <a:pPr marL="342900" indent="-342900">
              <a:buFont typeface="+mj-ea"/>
              <a:buAutoNum type="circleNumDbPlain" startAt="2"/>
            </a:pPr>
            <a:endParaRPr lang="zh-CN" altLang="en-US"/>
          </a:p>
          <a:p>
            <a:pPr marL="342900" indent="-342900">
              <a:buFont typeface="+mj-ea"/>
              <a:buAutoNum type="circleNumDbPlain" startAt="2"/>
            </a:pPr>
            <a:r>
              <a:rPr lang="zh-CN" altLang="en-US" b="1"/>
              <a:t>可解释性差</a:t>
            </a:r>
            <a:r>
              <a:rPr lang="zh-CN" altLang="en-US"/>
              <a:t>：深度学习模型内部的运作机制相对不透明，被称为</a:t>
            </a:r>
            <a:r>
              <a:rPr lang="en-US" altLang="zh-CN"/>
              <a:t>“</a:t>
            </a:r>
            <a:r>
              <a:rPr lang="zh-CN" altLang="en-US"/>
              <a:t>黑箱</a:t>
            </a:r>
            <a:r>
              <a:rPr lang="en-US" altLang="zh-CN"/>
              <a:t>”</a:t>
            </a:r>
            <a:r>
              <a:rPr lang="zh-CN" altLang="en-US"/>
              <a:t>，这意味着理解模型为什么做出特定决策可能会比较困难。这对某些应用场景来说是一个挑战。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常见</a:t>
            </a:r>
            <a:r>
              <a:rPr lang="zh-CN" altLang="en-US" dirty="0"/>
              <a:t>的深度学习</a:t>
            </a:r>
            <a:r>
              <a:rPr lang="zh-CN" altLang="en-US" dirty="0"/>
              <a:t>模型</a:t>
            </a:r>
            <a:endParaRPr lang="zh-CN" altLang="en-US" dirty="0"/>
          </a:p>
        </p:txBody>
      </p:sp>
      <p:sp>
        <p:nvSpPr>
          <p:cNvPr id="3" name="文本占位符 2"/>
          <p:cNvSpPr/>
          <p:nvPr>
            <p:ph type="body" sz="quarter" idx="11"/>
          </p:nvPr>
        </p:nvSpPr>
        <p:spPr>
          <a:xfrm>
            <a:off x="710565" y="1398270"/>
            <a:ext cx="10699115" cy="4959350"/>
          </a:xfrm>
        </p:spPr>
        <p:txBody>
          <a:bodyPr/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卷积神经网络</a:t>
            </a:r>
            <a:r>
              <a:rPr lang="en-US" altLang="zh-CN"/>
              <a:t> (Convolutional Neural Networks, CNN)</a:t>
            </a:r>
            <a:endParaRPr lang="en-US" altLang="zh-CN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循环神经网络</a:t>
            </a:r>
            <a:r>
              <a:rPr lang="en-US" altLang="zh-CN"/>
              <a:t> (Recurrent Neural Networks, RNN)</a:t>
            </a:r>
            <a:endParaRPr lang="en-US" altLang="zh-CN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自编码器</a:t>
            </a:r>
            <a:r>
              <a:rPr lang="en-US" altLang="zh-CN"/>
              <a:t> (Autoencoders)</a:t>
            </a:r>
            <a:endParaRPr lang="en-US" altLang="zh-CN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生成对抗网络</a:t>
            </a:r>
            <a:r>
              <a:rPr lang="en-US" altLang="zh-CN"/>
              <a:t> (Generative Adversarial Networks, GAN)</a:t>
            </a:r>
            <a:endParaRPr lang="en-US" altLang="zh-CN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/>
              <a:t>Transformer</a:t>
            </a:r>
            <a:endParaRPr lang="en-US" altLang="zh-CN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深度强化学习（</a:t>
            </a:r>
            <a:r>
              <a:rPr lang="en-US" altLang="zh-CN"/>
              <a:t>Deep Reinforcement Learning, DRL</a:t>
            </a:r>
            <a:r>
              <a:rPr lang="zh-CN" altLang="en-US"/>
              <a:t>）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图神经网络（</a:t>
            </a:r>
            <a:r>
              <a:rPr lang="en-US" altLang="zh-CN"/>
              <a:t>GNN, Graph Neural Network</a:t>
            </a:r>
            <a:r>
              <a:rPr lang="zh-CN" altLang="en-US"/>
              <a:t>）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应用场景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38245" y="1525270"/>
            <a:ext cx="5123815" cy="4248150"/>
          </a:xfrm>
          <a:prstGeom prst="rect">
            <a:avLst/>
          </a:prstGeom>
        </p:spPr>
      </p:pic>
      <p:sp>
        <p:nvSpPr>
          <p:cNvPr id="4" name="文本占位符 2"/>
          <p:cNvSpPr/>
          <p:nvPr/>
        </p:nvSpPr>
        <p:spPr>
          <a:xfrm>
            <a:off x="710565" y="1398270"/>
            <a:ext cx="10699115" cy="495935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charset="0"/>
              <a:buChar char="l"/>
            </a:pPr>
            <a:endParaRPr lang="zh-CN" altLang="en-US"/>
          </a:p>
        </p:txBody>
      </p:sp>
      <p:sp>
        <p:nvSpPr>
          <p:cNvPr id="6" name="文本占位符 2"/>
          <p:cNvSpPr/>
          <p:nvPr/>
        </p:nvSpPr>
        <p:spPr>
          <a:xfrm>
            <a:off x="837565" y="1525270"/>
            <a:ext cx="10699115" cy="495935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计算机视觉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自然语言处理</a:t>
            </a:r>
            <a:endParaRPr lang="en-US" altLang="zh-CN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自动驾驶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推荐系统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医疗健康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工业与制造业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语音与音频处理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/>
              <a:t>...</a:t>
            </a:r>
            <a:endParaRPr lang="en-US" alt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人工</a:t>
            </a:r>
            <a:r>
              <a:rPr lang="zh-CN" altLang="en-US" dirty="0"/>
              <a:t>智能发展历史</a:t>
            </a:r>
            <a:endParaRPr lang="zh-CN" altLang="en-US" dirty="0"/>
          </a:p>
        </p:txBody>
      </p:sp>
      <p:sp>
        <p:nvSpPr>
          <p:cNvPr id="6" name="弧 2"/>
          <p:cNvSpPr/>
          <p:nvPr>
            <p:custDataLst>
              <p:tags r:id="rId1"/>
            </p:custDataLst>
          </p:nvPr>
        </p:nvSpPr>
        <p:spPr>
          <a:xfrm rot="5400000">
            <a:off x="265525" y="1803518"/>
            <a:ext cx="4567847" cy="3969910"/>
          </a:xfrm>
          <a:custGeom>
            <a:avLst/>
            <a:gdLst>
              <a:gd name="connsiteX0" fmla="*/ 4110647 w 8221294"/>
              <a:gd name="connsiteY0" fmla="*/ 0 h 7939820"/>
              <a:gd name="connsiteX1" fmla="*/ 8221294 w 8221294"/>
              <a:gd name="connsiteY1" fmla="*/ 3969910 h 7939820"/>
              <a:gd name="connsiteX2" fmla="*/ 4110647 w 8221294"/>
              <a:gd name="connsiteY2" fmla="*/ 3969910 h 7939820"/>
              <a:gd name="connsiteX3" fmla="*/ 4110647 w 8221294"/>
              <a:gd name="connsiteY3" fmla="*/ 0 h 7939820"/>
              <a:gd name="connsiteX0-1" fmla="*/ 4110647 w 8221294"/>
              <a:gd name="connsiteY0-2" fmla="*/ 0 h 7939820"/>
              <a:gd name="connsiteX1-3" fmla="*/ 8221294 w 8221294"/>
              <a:gd name="connsiteY1-4" fmla="*/ 3969910 h 7939820"/>
              <a:gd name="connsiteX0-5" fmla="*/ 457200 w 4567847"/>
              <a:gd name="connsiteY0-6" fmla="*/ 0 h 3969910"/>
              <a:gd name="connsiteX1-7" fmla="*/ 4567847 w 4567847"/>
              <a:gd name="connsiteY1-8" fmla="*/ 3969910 h 3969910"/>
              <a:gd name="connsiteX2-9" fmla="*/ 457200 w 4567847"/>
              <a:gd name="connsiteY2-10" fmla="*/ 3969910 h 3969910"/>
              <a:gd name="connsiteX3-11" fmla="*/ 457200 w 4567847"/>
              <a:gd name="connsiteY3-12" fmla="*/ 0 h 3969910"/>
              <a:gd name="connsiteX0-13" fmla="*/ 0 w 4567847"/>
              <a:gd name="connsiteY0-14" fmla="*/ 26894 h 3969910"/>
              <a:gd name="connsiteX1-15" fmla="*/ 4567847 w 4567847"/>
              <a:gd name="connsiteY1-16" fmla="*/ 3969910 h 3969910"/>
              <a:gd name="connsiteX0-17" fmla="*/ 457200 w 4567847"/>
              <a:gd name="connsiteY0-18" fmla="*/ 0 h 3969910"/>
              <a:gd name="connsiteX1-19" fmla="*/ 4567847 w 4567847"/>
              <a:gd name="connsiteY1-20" fmla="*/ 3969910 h 3969910"/>
              <a:gd name="connsiteX2-21" fmla="*/ 457200 w 4567847"/>
              <a:gd name="connsiteY2-22" fmla="*/ 3969910 h 3969910"/>
              <a:gd name="connsiteX3-23" fmla="*/ 457200 w 4567847"/>
              <a:gd name="connsiteY3-24" fmla="*/ 0 h 3969910"/>
              <a:gd name="connsiteX0-25" fmla="*/ 0 w 4567847"/>
              <a:gd name="connsiteY0-26" fmla="*/ 26894 h 3969910"/>
              <a:gd name="connsiteX1-27" fmla="*/ 4567847 w 4567847"/>
              <a:gd name="connsiteY1-28" fmla="*/ 3969910 h 396991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4567847" h="3969910" stroke="0" extrusionOk="0">
                <a:moveTo>
                  <a:pt x="457200" y="0"/>
                </a:moveTo>
                <a:cubicBezTo>
                  <a:pt x="2727448" y="0"/>
                  <a:pt x="4567847" y="1777389"/>
                  <a:pt x="4567847" y="3969910"/>
                </a:cubicBezTo>
                <a:lnTo>
                  <a:pt x="457200" y="3969910"/>
                </a:lnTo>
                <a:lnTo>
                  <a:pt x="457200" y="0"/>
                </a:lnTo>
                <a:close/>
              </a:path>
              <a:path w="4567847" h="3969910" fill="none">
                <a:moveTo>
                  <a:pt x="0" y="26894"/>
                </a:moveTo>
                <a:cubicBezTo>
                  <a:pt x="2861920" y="-215154"/>
                  <a:pt x="4567847" y="1777389"/>
                  <a:pt x="4567847" y="3969910"/>
                </a:cubicBezTo>
              </a:path>
            </a:pathLst>
          </a:custGeom>
          <a:ln w="22225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" name="三角形 6"/>
          <p:cNvSpPr/>
          <p:nvPr>
            <p:custDataLst>
              <p:tags r:id="rId2"/>
            </p:custDataLst>
          </p:nvPr>
        </p:nvSpPr>
        <p:spPr>
          <a:xfrm>
            <a:off x="4430621" y="1333376"/>
            <a:ext cx="190585" cy="243293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3038097" y="5265170"/>
            <a:ext cx="8280391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专家系统占主导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  <a:p>
            <a:pPr algn="l"/>
            <a:r>
              <a:rPr lang="zh-CN" altLang="en-US" sz="16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1950：图灵设计国际象棋程序</a:t>
            </a:r>
            <a:endParaRPr lang="zh-CN" altLang="en-US" sz="1600" b="0" i="0" u="none" strike="noStrike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l"/>
            <a:r>
              <a:rPr lang="zh-CN" altLang="en-US" sz="16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1962：IBM Arthur Samuel 的跳棋程序战胜人类高手（人工智能第一次浪潮）</a:t>
            </a:r>
            <a:endParaRPr lang="zh-CN" altLang="en-US" sz="1600" b="0" i="0" u="none" strike="noStrike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9" name="文本框 39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985343" y="4256956"/>
            <a:ext cx="5794281" cy="92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主要用统计模型解决问题</a:t>
            </a:r>
            <a:endParaRPr lang="zh-CN" altLang="en-US" sz="1600" b="0" i="0" u="none" strike="noStrike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indent="0" algn="l">
              <a:buNone/>
            </a:pPr>
            <a:r>
              <a:rPr lang="zh-CN" altLang="en-US" sz="16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1993：Vapnik提出SVM</a:t>
            </a:r>
            <a:endParaRPr lang="zh-CN" altLang="en-US" sz="1600" b="0" i="0" u="none" strike="noStrike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indent="0" algn="l">
              <a:buNone/>
            </a:pPr>
            <a:r>
              <a:rPr lang="zh-CN" altLang="en-US" sz="16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1997：IBM 深蓝战胜卡斯帕罗夫（人工智能第二次浪潮）</a:t>
            </a:r>
            <a:endParaRPr lang="zh-CN" altLang="en-US" sz="1600" b="0" i="0" u="none" strike="noStrike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10" name="文本框 41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502452" y="3022626"/>
            <a:ext cx="6894099" cy="92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>
              <a:buNone/>
            </a:pPr>
            <a:r>
              <a:rPr lang="zh-CN" altLang="en-US" sz="16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神经网络、深度学习流派</a:t>
            </a:r>
            <a:endParaRPr lang="zh-CN" altLang="en-US" sz="1600" b="0" i="0" u="none" strike="noStrike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indent="0" algn="l">
              <a:buNone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2012： </a:t>
            </a:r>
            <a:r>
              <a:rPr lang="zh-CN" altLang="en-US" sz="16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AlexNet深度学习的开山之作</a:t>
            </a:r>
            <a:endParaRPr lang="zh-CN" altLang="en-US" sz="1600" b="0" i="0" u="none" strike="noStrike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indent="0" algn="l">
              <a:buNone/>
            </a:pPr>
            <a:r>
              <a:rPr lang="zh-CN" altLang="en-US" sz="16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2016：Google AlphaGO 战胜李世石（人工智能第三次浪潮）</a:t>
            </a:r>
            <a:endParaRPr lang="zh-CN" altLang="en-US" sz="1600" b="0" i="0" u="none" strike="noStrike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11" name="矩形: 圆角 4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501528" y="2026303"/>
            <a:ext cx="1872000" cy="503999"/>
          </a:xfrm>
          <a:prstGeom prst="roundRect">
            <a:avLst>
              <a:gd name="adj" fmla="val 50000"/>
            </a:avLst>
          </a:prstGeom>
          <a:solidFill>
            <a:srgbClr val="AD2A26"/>
          </a:solidFill>
          <a:ln w="38100" cap="flat">
            <a:noFill/>
            <a:prstDash val="solid"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大规模预训练模型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2017-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至今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12" name="Oval 12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4470213" y="2188652"/>
            <a:ext cx="155276" cy="157072"/>
          </a:xfrm>
          <a:prstGeom prst="ellipse">
            <a:avLst/>
          </a:prstGeom>
          <a:solidFill>
            <a:srgbClr val="AD2A26"/>
          </a:solidFill>
          <a:ln w="28575" cap="flat">
            <a:noFill/>
            <a:prstDash val="solid"/>
            <a:miter lim="800000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13" name="矩形: 圆角 48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2264447" y="3069366"/>
            <a:ext cx="1872000" cy="503999"/>
          </a:xfrm>
          <a:prstGeom prst="roundRect">
            <a:avLst>
              <a:gd name="adj" fmla="val 50000"/>
            </a:avLst>
          </a:prstGeom>
          <a:solidFill>
            <a:srgbClr val="4C5252"/>
          </a:solidFill>
          <a:ln w="38100" cap="flat">
            <a:noFill/>
            <a:prstDash val="solid"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神经网络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en-US" altLang="zh-CN" sz="14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21</a:t>
            </a: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世纪初期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14" name="Oval 12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4251233" y="3261931"/>
            <a:ext cx="155276" cy="157072"/>
          </a:xfrm>
          <a:prstGeom prst="ellipse">
            <a:avLst/>
          </a:prstGeom>
          <a:solidFill>
            <a:srgbClr val="4C5252"/>
          </a:solidFill>
          <a:ln w="28575" cap="flat">
            <a:noFill/>
            <a:prstDash val="solid"/>
            <a:miter lim="800000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15" name="矩形: 圆角 48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726564" y="4112428"/>
            <a:ext cx="1872000" cy="503999"/>
          </a:xfrm>
          <a:prstGeom prst="roundRect">
            <a:avLst>
              <a:gd name="adj" fmla="val 50000"/>
            </a:avLst>
          </a:prstGeom>
          <a:solidFill>
            <a:srgbClr val="AD2A26"/>
          </a:solidFill>
          <a:ln w="38100" cap="flat">
            <a:noFill/>
            <a:prstDash val="solid"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统计主义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20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世纪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80</a:t>
            </a:r>
            <a:r>
              <a:rPr lang="en-US" altLang="zh-CN" sz="14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-2000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16" name="Oval 12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3723580" y="4329616"/>
            <a:ext cx="155276" cy="157072"/>
          </a:xfrm>
          <a:prstGeom prst="ellipse">
            <a:avLst/>
          </a:prstGeom>
          <a:solidFill>
            <a:srgbClr val="AD2A26"/>
          </a:solidFill>
          <a:ln w="28575" cap="flat">
            <a:noFill/>
            <a:prstDash val="solid"/>
            <a:miter lim="800000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17" name="矩形: 圆角 48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765211" y="5133189"/>
            <a:ext cx="1872000" cy="503999"/>
          </a:xfrm>
          <a:prstGeom prst="roundRect">
            <a:avLst>
              <a:gd name="adj" fmla="val 50000"/>
            </a:avLst>
          </a:prstGeom>
          <a:solidFill>
            <a:srgbClr val="4C5252"/>
          </a:solidFill>
          <a:ln w="38100" cap="flat">
            <a:noFill/>
            <a:prstDash val="solid"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符号主义 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20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世纪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50-70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18" name="Oval 12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2715653" y="5317837"/>
            <a:ext cx="155276" cy="157072"/>
          </a:xfrm>
          <a:prstGeom prst="ellipse">
            <a:avLst/>
          </a:prstGeom>
          <a:solidFill>
            <a:srgbClr val="4C5252"/>
          </a:solidFill>
          <a:ln w="28575" cap="flat">
            <a:noFill/>
            <a:prstDash val="solid"/>
            <a:miter lim="800000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19" name="文本框 43"/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4722174" y="1645125"/>
            <a:ext cx="7176630" cy="122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None/>
            </a:pPr>
            <a:r>
              <a:rPr kumimoji="0" lang="zh-CN" altLang="en-US" sz="1600" b="0" i="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大规模预训练模型</a:t>
            </a:r>
            <a:endParaRPr kumimoji="0" lang="zh-CN" altLang="en-US" sz="1600" b="0" i="0" u="none" strike="noStrike" kern="1200" cap="none" spc="0" normalizeH="0" baseline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  <a:p>
            <a:pPr>
              <a:buNone/>
            </a:pPr>
            <a:r>
              <a:rPr kumimoji="0" lang="zh-CN" altLang="en-US" sz="1600" b="0" i="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2017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：自然语言处理NLP的Transformer框架出现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  <a:p>
            <a:pPr>
              <a:buNone/>
            </a:pPr>
            <a:r>
              <a:rPr kumimoji="0" lang="zh-CN" altLang="en-US" sz="1600" b="0" i="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2018：Bert和GPT的出现</a:t>
            </a:r>
            <a:endParaRPr kumimoji="0" lang="zh-CN" altLang="en-US" sz="1600" b="0" i="0" u="none" strike="noStrike" kern="1200" cap="none" spc="0" normalizeH="0" baseline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  <a:p>
            <a:pPr>
              <a:buNone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2022：chatGPT的出现，进入到大模型AIGC发展的阶段</a:t>
            </a:r>
            <a:endParaRPr kumimoji="0" lang="zh-CN" altLang="en-US" sz="1600" b="0" i="0" u="none" strike="noStrike" kern="1200" cap="none" spc="0" normalizeH="0" baseline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深度</a:t>
            </a:r>
            <a:r>
              <a:rPr lang="zh-CN" altLang="en-US" dirty="0"/>
              <a:t>学习发展历史</a:t>
            </a:r>
            <a:endParaRPr lang="zh-CN" altLang="en-US" dirty="0"/>
          </a:p>
        </p:txBody>
      </p:sp>
      <p:sp>
        <p:nvSpPr>
          <p:cNvPr id="6" name="弧 2"/>
          <p:cNvSpPr/>
          <p:nvPr>
            <p:custDataLst>
              <p:tags r:id="rId1"/>
            </p:custDataLst>
          </p:nvPr>
        </p:nvSpPr>
        <p:spPr>
          <a:xfrm rot="5400000">
            <a:off x="265525" y="1803518"/>
            <a:ext cx="4567847" cy="3969910"/>
          </a:xfrm>
          <a:custGeom>
            <a:avLst/>
            <a:gdLst>
              <a:gd name="connsiteX0" fmla="*/ 4110647 w 8221294"/>
              <a:gd name="connsiteY0" fmla="*/ 0 h 7939820"/>
              <a:gd name="connsiteX1" fmla="*/ 8221294 w 8221294"/>
              <a:gd name="connsiteY1" fmla="*/ 3969910 h 7939820"/>
              <a:gd name="connsiteX2" fmla="*/ 4110647 w 8221294"/>
              <a:gd name="connsiteY2" fmla="*/ 3969910 h 7939820"/>
              <a:gd name="connsiteX3" fmla="*/ 4110647 w 8221294"/>
              <a:gd name="connsiteY3" fmla="*/ 0 h 7939820"/>
              <a:gd name="connsiteX0-1" fmla="*/ 4110647 w 8221294"/>
              <a:gd name="connsiteY0-2" fmla="*/ 0 h 7939820"/>
              <a:gd name="connsiteX1-3" fmla="*/ 8221294 w 8221294"/>
              <a:gd name="connsiteY1-4" fmla="*/ 3969910 h 7939820"/>
              <a:gd name="connsiteX0-5" fmla="*/ 457200 w 4567847"/>
              <a:gd name="connsiteY0-6" fmla="*/ 0 h 3969910"/>
              <a:gd name="connsiteX1-7" fmla="*/ 4567847 w 4567847"/>
              <a:gd name="connsiteY1-8" fmla="*/ 3969910 h 3969910"/>
              <a:gd name="connsiteX2-9" fmla="*/ 457200 w 4567847"/>
              <a:gd name="connsiteY2-10" fmla="*/ 3969910 h 3969910"/>
              <a:gd name="connsiteX3-11" fmla="*/ 457200 w 4567847"/>
              <a:gd name="connsiteY3-12" fmla="*/ 0 h 3969910"/>
              <a:gd name="connsiteX0-13" fmla="*/ 0 w 4567847"/>
              <a:gd name="connsiteY0-14" fmla="*/ 26894 h 3969910"/>
              <a:gd name="connsiteX1-15" fmla="*/ 4567847 w 4567847"/>
              <a:gd name="connsiteY1-16" fmla="*/ 3969910 h 3969910"/>
              <a:gd name="connsiteX0-17" fmla="*/ 457200 w 4567847"/>
              <a:gd name="connsiteY0-18" fmla="*/ 0 h 3969910"/>
              <a:gd name="connsiteX1-19" fmla="*/ 4567847 w 4567847"/>
              <a:gd name="connsiteY1-20" fmla="*/ 3969910 h 3969910"/>
              <a:gd name="connsiteX2-21" fmla="*/ 457200 w 4567847"/>
              <a:gd name="connsiteY2-22" fmla="*/ 3969910 h 3969910"/>
              <a:gd name="connsiteX3-23" fmla="*/ 457200 w 4567847"/>
              <a:gd name="connsiteY3-24" fmla="*/ 0 h 3969910"/>
              <a:gd name="connsiteX0-25" fmla="*/ 0 w 4567847"/>
              <a:gd name="connsiteY0-26" fmla="*/ 26894 h 3969910"/>
              <a:gd name="connsiteX1-27" fmla="*/ 4567847 w 4567847"/>
              <a:gd name="connsiteY1-28" fmla="*/ 3969910 h 396991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4567847" h="3969910" stroke="0" extrusionOk="0">
                <a:moveTo>
                  <a:pt x="457200" y="0"/>
                </a:moveTo>
                <a:cubicBezTo>
                  <a:pt x="2727448" y="0"/>
                  <a:pt x="4567847" y="1777389"/>
                  <a:pt x="4567847" y="3969910"/>
                </a:cubicBezTo>
                <a:lnTo>
                  <a:pt x="457200" y="3969910"/>
                </a:lnTo>
                <a:lnTo>
                  <a:pt x="457200" y="0"/>
                </a:lnTo>
                <a:close/>
              </a:path>
              <a:path w="4567847" h="3969910" fill="none">
                <a:moveTo>
                  <a:pt x="0" y="26894"/>
                </a:moveTo>
                <a:cubicBezTo>
                  <a:pt x="2861920" y="-215154"/>
                  <a:pt x="4567847" y="1777389"/>
                  <a:pt x="4567847" y="3969910"/>
                </a:cubicBezTo>
              </a:path>
            </a:pathLst>
          </a:custGeom>
          <a:ln w="22225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" name="三角形 6"/>
          <p:cNvSpPr/>
          <p:nvPr>
            <p:custDataLst>
              <p:tags r:id="rId2"/>
            </p:custDataLst>
          </p:nvPr>
        </p:nvSpPr>
        <p:spPr>
          <a:xfrm>
            <a:off x="4430621" y="1333376"/>
            <a:ext cx="190585" cy="243293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3038097" y="5265170"/>
            <a:ext cx="8280391" cy="116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20</a:t>
            </a:r>
            <a:r>
              <a:rPr lang="zh-CN" altLang="en-US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世纪</a:t>
            </a:r>
            <a:r>
              <a:rPr lang="en-US" altLang="zh-CN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40</a:t>
            </a:r>
            <a:r>
              <a:rPr lang="zh-CN" altLang="en-US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年代：沃尔特</a:t>
            </a:r>
            <a:r>
              <a:rPr lang="en-US" altLang="zh-CN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·</a:t>
            </a:r>
            <a:r>
              <a:rPr lang="zh-CN" altLang="en-US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皮茨（</a:t>
            </a:r>
            <a:r>
              <a:rPr lang="en-US" altLang="zh-CN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Walter Pitts</a:t>
            </a:r>
            <a:r>
              <a:rPr lang="zh-CN" altLang="en-US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）和沃伦</a:t>
            </a:r>
            <a:r>
              <a:rPr lang="en-US" altLang="zh-CN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·</a:t>
            </a:r>
            <a:r>
              <a:rPr lang="zh-CN" altLang="en-US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麦卡洛克（</a:t>
            </a:r>
            <a:r>
              <a:rPr lang="en-US" altLang="zh-CN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Warren McCulloch</a:t>
            </a:r>
            <a:r>
              <a:rPr lang="zh-CN" altLang="en-US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）等开始模仿生物神经系统来构建计算模型，如</a:t>
            </a:r>
            <a:r>
              <a:rPr lang="en-US" altLang="zh-CN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McCulloch-Pitts</a:t>
            </a:r>
            <a:r>
              <a:rPr lang="zh-CN" altLang="en-US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神经元。</a:t>
            </a:r>
            <a:endParaRPr lang="zh-CN" altLang="en-US" sz="1400" b="0" i="0" u="none" strike="noStrike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l"/>
            <a:r>
              <a:rPr lang="en-US" altLang="zh-CN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1957</a:t>
            </a:r>
            <a:r>
              <a:rPr lang="zh-CN" altLang="en-US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：弗兰克</a:t>
            </a:r>
            <a:r>
              <a:rPr lang="en-US" altLang="zh-CN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·</a:t>
            </a:r>
            <a:r>
              <a:rPr lang="zh-CN" altLang="en-US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罗森布拉特（</a:t>
            </a:r>
            <a:r>
              <a:rPr lang="en-US" altLang="zh-CN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Frank Rosenblatt</a:t>
            </a:r>
            <a:r>
              <a:rPr lang="zh-CN" altLang="en-US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）提出感知器概念，能够进行简单的二分类任务</a:t>
            </a:r>
            <a:endParaRPr lang="zh-CN" altLang="en-US" sz="1400" b="0" i="0" u="none" strike="noStrike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l"/>
            <a:r>
              <a:rPr lang="en-US" altLang="zh-CN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1960</a:t>
            </a:r>
            <a:r>
              <a:rPr lang="zh-CN" altLang="en-US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年代末：出现了多层感知器（</a:t>
            </a:r>
            <a:r>
              <a:rPr lang="en-US" altLang="zh-CN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MLP</a:t>
            </a:r>
            <a:r>
              <a:rPr lang="zh-CN" altLang="en-US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），但当时由于计算能力和数据量的限制，这些模型的应用受到很大限制。</a:t>
            </a:r>
            <a:endParaRPr lang="zh-CN" altLang="en-US" sz="1400" b="0" i="0" u="none" strike="noStrike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9" name="文本框 39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065988" y="4053756"/>
            <a:ext cx="5794281" cy="1211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1986</a:t>
            </a:r>
            <a:r>
              <a:rPr lang="zh-CN" altLang="en-US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：</a:t>
            </a:r>
            <a:r>
              <a:rPr lang="en-US" altLang="zh-CN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David Rumelhart</a:t>
            </a:r>
            <a:r>
              <a:rPr lang="zh-CN" altLang="en-US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等人发表了关于反向传播（</a:t>
            </a:r>
            <a:r>
              <a:rPr lang="en-US" altLang="zh-CN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Backpropagation, BP</a:t>
            </a:r>
            <a:r>
              <a:rPr lang="zh-CN" altLang="en-US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）算法的研究成果，使得多层神经网络能够通过梯度下降优化参数，解决复杂的非线性问题。</a:t>
            </a:r>
            <a:endParaRPr lang="zh-CN" altLang="en-US" sz="1400" b="0" i="0" u="none" strike="noStrike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由于计算资源的限制以及对复杂数据（如图像和语音）的处理能力较弱，深度学习未能广泛应用</a:t>
            </a:r>
            <a:endParaRPr lang="zh-CN" altLang="en-US" sz="1400" b="0" i="0" u="none" strike="noStrike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10" name="文本框 41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502452" y="2957856"/>
            <a:ext cx="6894099" cy="1026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>
              <a:buNone/>
            </a:pPr>
            <a:r>
              <a:rPr lang="en-US" altLang="zh-CN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2006</a:t>
            </a:r>
            <a:r>
              <a:rPr lang="zh-CN" altLang="en-US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：杰弗里</a:t>
            </a:r>
            <a:r>
              <a:rPr lang="en-US" altLang="zh-CN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·</a:t>
            </a:r>
            <a:r>
              <a:rPr lang="zh-CN" altLang="en-US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辛顿（</a:t>
            </a:r>
            <a:r>
              <a:rPr lang="en-US" altLang="zh-CN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Geoffrey Hinton</a:t>
            </a:r>
            <a:r>
              <a:rPr lang="zh-CN" altLang="en-US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）和其团队提出了深度置信网络（</a:t>
            </a:r>
            <a:r>
              <a:rPr lang="en-US" altLang="zh-CN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DBN</a:t>
            </a:r>
            <a:r>
              <a:rPr lang="zh-CN" altLang="en-US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），标志着深度学习的复兴</a:t>
            </a:r>
            <a:r>
              <a:rPr lang="zh-CN" altLang="en-US" sz="16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。</a:t>
            </a:r>
            <a:endParaRPr lang="zh-CN" altLang="en-US" sz="1600" b="0" i="0" u="none" strike="noStrike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l">
              <a:buNone/>
            </a:pPr>
            <a:r>
              <a:rPr lang="en-US" altLang="zh-CN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2012</a:t>
            </a:r>
            <a:r>
              <a:rPr lang="zh-CN" altLang="en-US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：亚历克斯</a:t>
            </a:r>
            <a:r>
              <a:rPr lang="en-US" altLang="zh-CN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·</a:t>
            </a:r>
            <a:r>
              <a:rPr lang="zh-CN" altLang="en-US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克里泽夫斯基（</a:t>
            </a:r>
            <a:r>
              <a:rPr lang="en-US" altLang="zh-CN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Alex Krizhevsky</a:t>
            </a:r>
            <a:r>
              <a:rPr lang="zh-CN" altLang="en-US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）等人设计的卷积神经网络（</a:t>
            </a:r>
            <a:r>
              <a:rPr lang="en-US" altLang="zh-CN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CNN</a:t>
            </a:r>
            <a:r>
              <a:rPr lang="zh-CN" altLang="en-US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）</a:t>
            </a:r>
            <a:r>
              <a:rPr lang="en-US" altLang="zh-CN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AlexNet</a:t>
            </a:r>
            <a:r>
              <a:rPr lang="zh-CN" altLang="en-US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在</a:t>
            </a:r>
            <a:r>
              <a:rPr lang="en-US" altLang="zh-CN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ImageNet</a:t>
            </a:r>
            <a:r>
              <a:rPr lang="zh-CN" altLang="en-US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图像识别挑战赛中取得巨大成功。</a:t>
            </a:r>
            <a:endParaRPr lang="en-US" altLang="zh-CN" sz="1400" b="0" i="0" u="none" strike="noStrike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11" name="矩形: 圆角 4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501528" y="2026303"/>
            <a:ext cx="1872000" cy="503999"/>
          </a:xfrm>
          <a:prstGeom prst="roundRect">
            <a:avLst>
              <a:gd name="adj" fmla="val 50000"/>
            </a:avLst>
          </a:prstGeom>
          <a:solidFill>
            <a:srgbClr val="AD2A26"/>
          </a:solidFill>
          <a:ln w="38100" cap="flat">
            <a:noFill/>
            <a:prstDash val="solid"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爆发期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2016-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至今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12" name="Oval 12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4470213" y="2188652"/>
            <a:ext cx="155276" cy="157072"/>
          </a:xfrm>
          <a:prstGeom prst="ellipse">
            <a:avLst/>
          </a:prstGeom>
          <a:solidFill>
            <a:srgbClr val="AD2A26"/>
          </a:solidFill>
          <a:ln w="28575" cap="flat">
            <a:noFill/>
            <a:prstDash val="solid"/>
            <a:miter lim="800000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13" name="矩形: 圆角 48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2264447" y="3069366"/>
            <a:ext cx="1872000" cy="503999"/>
          </a:xfrm>
          <a:prstGeom prst="roundRect">
            <a:avLst>
              <a:gd name="adj" fmla="val 50000"/>
            </a:avLst>
          </a:prstGeom>
          <a:solidFill>
            <a:srgbClr val="4C5252"/>
          </a:solidFill>
          <a:ln w="38100" cap="flat">
            <a:noFill/>
            <a:prstDash val="solid"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复兴与突破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2000s-2010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s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14" name="Oval 12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4251233" y="3261931"/>
            <a:ext cx="155276" cy="157072"/>
          </a:xfrm>
          <a:prstGeom prst="ellipse">
            <a:avLst/>
          </a:prstGeom>
          <a:solidFill>
            <a:srgbClr val="4C5252"/>
          </a:solidFill>
          <a:ln w="28575" cap="flat">
            <a:noFill/>
            <a:prstDash val="solid"/>
            <a:miter lim="800000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15" name="矩形: 圆角 48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726564" y="4112428"/>
            <a:ext cx="1872000" cy="503999"/>
          </a:xfrm>
          <a:prstGeom prst="roundRect">
            <a:avLst>
              <a:gd name="adj" fmla="val 50000"/>
            </a:avLst>
          </a:prstGeom>
          <a:solidFill>
            <a:srgbClr val="AD2A26"/>
          </a:solidFill>
          <a:ln w="38100" cap="flat">
            <a:noFill/>
            <a:prstDash val="solid"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挑战与瓶颈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1980s</a:t>
            </a:r>
            <a:r>
              <a:rPr lang="en-US" altLang="zh-CN" sz="14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-1990s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16" name="Oval 12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3723580" y="4329616"/>
            <a:ext cx="155276" cy="157072"/>
          </a:xfrm>
          <a:prstGeom prst="ellipse">
            <a:avLst/>
          </a:prstGeom>
          <a:solidFill>
            <a:srgbClr val="AD2A26"/>
          </a:solidFill>
          <a:ln w="28575" cap="flat">
            <a:noFill/>
            <a:prstDash val="solid"/>
            <a:miter lim="800000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17" name="矩形: 圆角 48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765211" y="5133189"/>
            <a:ext cx="1872000" cy="503999"/>
          </a:xfrm>
          <a:prstGeom prst="roundRect">
            <a:avLst>
              <a:gd name="adj" fmla="val 50000"/>
            </a:avLst>
          </a:prstGeom>
          <a:solidFill>
            <a:srgbClr val="4C5252"/>
          </a:solidFill>
          <a:ln w="38100" cap="flat">
            <a:noFill/>
            <a:prstDash val="solid"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早期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探索 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1940s-1980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s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18" name="Oval 12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2715653" y="5317837"/>
            <a:ext cx="155276" cy="157072"/>
          </a:xfrm>
          <a:prstGeom prst="ellipse">
            <a:avLst/>
          </a:prstGeom>
          <a:solidFill>
            <a:srgbClr val="4C5252"/>
          </a:solidFill>
          <a:ln w="28575" cap="flat">
            <a:noFill/>
            <a:prstDash val="solid"/>
            <a:miter lim="800000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19" name="文本框 43"/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4681534" y="1728945"/>
            <a:ext cx="7176630" cy="1340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0" algn="l">
              <a:buNone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2016：Google AlphaGO 战胜李世石（人工智能第三次浪潮）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+mn-ea"/>
            </a:endParaRPr>
          </a:p>
          <a:p>
            <a:pPr>
              <a:buNone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2017：自然语言处理NLP的Transformer框架出现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  <a:p>
            <a:pPr>
              <a:buNone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2018：Bert和GPT的出现</a:t>
            </a:r>
            <a:endParaRPr kumimoji="0" lang="zh-CN" altLang="en-US" sz="1400" b="0" i="0" u="none" strike="noStrike" kern="1200" cap="none" spc="0" normalizeH="0" baseline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  <a:p>
            <a:pPr>
              <a:buNone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2022：chatGPT的出现，进入到大模型AIGC发展的阶段</a:t>
            </a:r>
            <a:endParaRPr kumimoji="0" lang="zh-CN" altLang="en-US" sz="1400" b="0" i="0" u="none" strike="noStrike" kern="1200" cap="none" spc="0" normalizeH="0" baseline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  <a:p>
            <a:pPr indent="0" algn="l">
              <a:buNone/>
            </a:pPr>
            <a:endParaRPr kumimoji="0" lang="zh-CN" altLang="en-US" sz="1400" b="0" i="0" u="none" strike="noStrike" kern="1200" cap="none" spc="0" normalizeH="0" baseline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深度学习与机器学习的关系和差别？</a:t>
            </a:r>
            <a:endParaRPr lang="zh-CN" altLang="en-US" dirty="0"/>
          </a:p>
          <a:p>
            <a:r>
              <a:rPr lang="zh-CN" altLang="en-US" dirty="0"/>
              <a:t>深度学习特点</a:t>
            </a:r>
            <a:endParaRPr lang="zh-CN" altLang="en-US" dirty="0"/>
          </a:p>
          <a:p>
            <a:r>
              <a:rPr lang="zh-CN" altLang="en-US" dirty="0"/>
              <a:t>常见</a:t>
            </a:r>
            <a:r>
              <a:rPr lang="zh-CN" altLang="en-US" dirty="0"/>
              <a:t>的深度学习模型</a:t>
            </a:r>
            <a:endParaRPr lang="en-US" altLang="zh-CN" dirty="0"/>
          </a:p>
          <a:p>
            <a:r>
              <a:rPr lang="zh-CN" altLang="en-US" dirty="0"/>
              <a:t>深度学习的应用场景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74.9400787401575,&quot;left&quot;:44.44830708661416,&quot;top&quot;:104.99023622047244,&quot;width&quot;:892.4653937007873}"/>
</p:tagLst>
</file>

<file path=ppt/tags/tag2.xml><?xml version="1.0" encoding="utf-8"?>
<p:tagLst xmlns:p="http://schemas.openxmlformats.org/presentationml/2006/main">
  <p:tag name="KSO_WM_DIAGRAM_VIRTUALLY_FRAME" val="{&quot;height&quot;:374.9400787401575,&quot;left&quot;:44.44830708661416,&quot;top&quot;:104.99023622047244,&quot;width&quot;:892.4653937007873}"/>
</p:tagLst>
</file>

<file path=ppt/tags/tag3.xml><?xml version="1.0" encoding="utf-8"?>
<p:tagLst xmlns:p="http://schemas.openxmlformats.org/presentationml/2006/main">
  <p:tag name="KSO_WM_DIAGRAM_VIRTUALLY_FRAME" val="{&quot;height&quot;:374.9400787401575,&quot;left&quot;:44.44830708661416,&quot;top&quot;:104.99023622047244,&quot;width&quot;:892.4653937007873}"/>
</p:tagLst>
</file>

<file path=ppt/tags/tag4.xml><?xml version="1.0" encoding="utf-8"?>
<p:tagLst xmlns:p="http://schemas.openxmlformats.org/presentationml/2006/main">
  <p:tag name="KSO_WM_DIAGRAM_VIRTUALLY_FRAME" val="{&quot;height&quot;:374.9400787401575,&quot;left&quot;:44.44830708661416,&quot;top&quot;:104.99023622047244,&quot;width&quot;:892.4653937007873}"/>
</p:tagLst>
</file>

<file path=ppt/tags/tag5.xml><?xml version="1.0" encoding="utf-8"?>
<p:tagLst xmlns:p="http://schemas.openxmlformats.org/presentationml/2006/main">
  <p:tag name="KSO_WM_DIAGRAM_VIRTUALLY_FRAME" val="{&quot;height&quot;:374.9400787401575,&quot;left&quot;:44.44830708661416,&quot;top&quot;:104.99023622047244,&quot;width&quot;:892.4653937007873}"/>
</p:tagLst>
</file>

<file path=ppt/tags/tag6.xml><?xml version="1.0" encoding="utf-8"?>
<p:tagLst xmlns:p="http://schemas.openxmlformats.org/presentationml/2006/main">
  <p:tag name="KSO_WM_DIAGRAM_VIRTUALLY_FRAME" val="{&quot;height&quot;:374.9400787401575,&quot;left&quot;:44.44830708661416,&quot;top&quot;:104.99023622047244,&quot;width&quot;:892.4653937007873}"/>
</p:tagLst>
</file>

<file path=ppt/tags/tag7.xml><?xml version="1.0" encoding="utf-8"?>
<p:tagLst xmlns:p="http://schemas.openxmlformats.org/presentationml/2006/main">
  <p:tag name="KSO_WM_DIAGRAM_VIRTUALLY_FRAME" val="{&quot;height&quot;:374.9400787401575,&quot;left&quot;:44.44830708661416,&quot;top&quot;:104.99023622047244,&quot;width&quot;:892.4653937007873}"/>
</p:tagLst>
</file>

<file path=ppt/tags/tag8.xml><?xml version="1.0" encoding="utf-8"?>
<p:tagLst xmlns:p="http://schemas.openxmlformats.org/presentationml/2006/main">
  <p:tag name="KSO_WM_DIAGRAM_VIRTUALLY_FRAME" val="{&quot;height&quot;:374.9400787401575,&quot;left&quot;:44.44830708661416,&quot;top&quot;:104.99023622047244,&quot;width&quot;:892.4653937007873}"/>
</p:tagLst>
</file>

<file path=ppt/tags/tag9.xml><?xml version="1.0" encoding="utf-8"?>
<p:tagLst xmlns:p="http://schemas.openxmlformats.org/presentationml/2006/main">
  <p:tag name="KSO_WM_DIAGRAM_VIRTUALLY_FRAME" val="{&quot;height&quot;:374.9400787401575,&quot;left&quot;:44.44830708661416,&quot;top&quot;:104.99023622047244,&quot;width&quot;:892.4653937007873}"/>
</p:tagLst>
</file>

<file path=ppt/tags/tag10.xml><?xml version="1.0" encoding="utf-8"?>
<p:tagLst xmlns:p="http://schemas.openxmlformats.org/presentationml/2006/main">
  <p:tag name="KSO_WM_DIAGRAM_VIRTUALLY_FRAME" val="{&quot;height&quot;:374.9400787401575,&quot;left&quot;:44.44830708661416,&quot;top&quot;:104.99023622047244,&quot;width&quot;:892.4653937007873}"/>
</p:tagLst>
</file>

<file path=ppt/tags/tag11.xml><?xml version="1.0" encoding="utf-8"?>
<p:tagLst xmlns:p="http://schemas.openxmlformats.org/presentationml/2006/main">
  <p:tag name="KSO_WM_DIAGRAM_VIRTUALLY_FRAME" val="{&quot;height&quot;:374.9400787401575,&quot;left&quot;:44.44830708661416,&quot;top&quot;:104.99023622047244,&quot;width&quot;:892.4653937007873}"/>
</p:tagLst>
</file>

<file path=ppt/tags/tag12.xml><?xml version="1.0" encoding="utf-8"?>
<p:tagLst xmlns:p="http://schemas.openxmlformats.org/presentationml/2006/main">
  <p:tag name="KSO_WM_DIAGRAM_VIRTUALLY_FRAME" val="{&quot;height&quot;:374.9400787401575,&quot;left&quot;:44.44830708661416,&quot;top&quot;:104.99023622047244,&quot;width&quot;:892.4653937007873}"/>
</p:tagLst>
</file>

<file path=ppt/tags/tag13.xml><?xml version="1.0" encoding="utf-8"?>
<p:tagLst xmlns:p="http://schemas.openxmlformats.org/presentationml/2006/main">
  <p:tag name="KSO_WM_DIAGRAM_VIRTUALLY_FRAME" val="{&quot;height&quot;:374.9400787401575,&quot;left&quot;:44.44830708661416,&quot;top&quot;:104.99023622047244,&quot;width&quot;:892.4653937007873}"/>
</p:tagLst>
</file>

<file path=ppt/tags/tag14.xml><?xml version="1.0" encoding="utf-8"?>
<p:tagLst xmlns:p="http://schemas.openxmlformats.org/presentationml/2006/main">
  <p:tag name="KSO_WM_DIAGRAM_VIRTUALLY_FRAME" val="{&quot;height&quot;:374.9400787401575,&quot;left&quot;:44.44830708661416,&quot;top&quot;:104.99023622047244,&quot;width&quot;:892.4653937007873}"/>
</p:tagLst>
</file>

<file path=ppt/tags/tag15.xml><?xml version="1.0" encoding="utf-8"?>
<p:tagLst xmlns:p="http://schemas.openxmlformats.org/presentationml/2006/main">
  <p:tag name="KSO_WM_DIAGRAM_VIRTUALLY_FRAME" val="{&quot;height&quot;:433.09007874015754,&quot;left&quot;:44.44830708661416,&quot;top&quot;:104.99023622047244,&quot;width&quot;:892.4653937007873}"/>
</p:tagLst>
</file>

<file path=ppt/tags/tag16.xml><?xml version="1.0" encoding="utf-8"?>
<p:tagLst xmlns:p="http://schemas.openxmlformats.org/presentationml/2006/main">
  <p:tag name="KSO_WM_DIAGRAM_VIRTUALLY_FRAME" val="{&quot;height&quot;:433.09007874015754,&quot;left&quot;:44.44830708661416,&quot;top&quot;:104.99023622047244,&quot;width&quot;:892.4653937007873}"/>
</p:tagLst>
</file>

<file path=ppt/tags/tag17.xml><?xml version="1.0" encoding="utf-8"?>
<p:tagLst xmlns:p="http://schemas.openxmlformats.org/presentationml/2006/main">
  <p:tag name="KSO_WM_DIAGRAM_VIRTUALLY_FRAME" val="{&quot;height&quot;:433.09007874015754,&quot;left&quot;:44.44830708661416,&quot;top&quot;:104.99023622047244,&quot;width&quot;:892.4653937007873}"/>
</p:tagLst>
</file>

<file path=ppt/tags/tag18.xml><?xml version="1.0" encoding="utf-8"?>
<p:tagLst xmlns:p="http://schemas.openxmlformats.org/presentationml/2006/main">
  <p:tag name="KSO_WM_DIAGRAM_VIRTUALLY_FRAME" val="{&quot;height&quot;:433.09007874015754,&quot;left&quot;:44.44830708661416,&quot;top&quot;:104.99023622047244,&quot;width&quot;:892.4653937007873}"/>
</p:tagLst>
</file>

<file path=ppt/tags/tag19.xml><?xml version="1.0" encoding="utf-8"?>
<p:tagLst xmlns:p="http://schemas.openxmlformats.org/presentationml/2006/main">
  <p:tag name="KSO_WM_DIAGRAM_VIRTUALLY_FRAME" val="{&quot;height&quot;:433.09007874015754,&quot;left&quot;:44.44830708661416,&quot;top&quot;:104.99023622047244,&quot;width&quot;:892.4653937007873}"/>
</p:tagLst>
</file>

<file path=ppt/tags/tag20.xml><?xml version="1.0" encoding="utf-8"?>
<p:tagLst xmlns:p="http://schemas.openxmlformats.org/presentationml/2006/main">
  <p:tag name="KSO_WM_DIAGRAM_VIRTUALLY_FRAME" val="{&quot;height&quot;:433.09007874015754,&quot;left&quot;:44.44830708661416,&quot;top&quot;:104.99023622047244,&quot;width&quot;:892.4653937007873}"/>
</p:tagLst>
</file>

<file path=ppt/tags/tag21.xml><?xml version="1.0" encoding="utf-8"?>
<p:tagLst xmlns:p="http://schemas.openxmlformats.org/presentationml/2006/main">
  <p:tag name="KSO_WM_DIAGRAM_VIRTUALLY_FRAME" val="{&quot;height&quot;:433.09007874015754,&quot;left&quot;:44.44830708661416,&quot;top&quot;:104.99023622047244,&quot;width&quot;:892.4653937007873}"/>
</p:tagLst>
</file>

<file path=ppt/tags/tag22.xml><?xml version="1.0" encoding="utf-8"?>
<p:tagLst xmlns:p="http://schemas.openxmlformats.org/presentationml/2006/main">
  <p:tag name="KSO_WM_DIAGRAM_VIRTUALLY_FRAME" val="{&quot;height&quot;:433.09007874015754,&quot;left&quot;:44.44830708661416,&quot;top&quot;:104.99023622047244,&quot;width&quot;:892.4653937007873}"/>
</p:tagLst>
</file>

<file path=ppt/tags/tag23.xml><?xml version="1.0" encoding="utf-8"?>
<p:tagLst xmlns:p="http://schemas.openxmlformats.org/presentationml/2006/main">
  <p:tag name="KSO_WM_DIAGRAM_VIRTUALLY_FRAME" val="{&quot;height&quot;:433.09007874015754,&quot;left&quot;:44.44830708661416,&quot;top&quot;:104.99023622047244,&quot;width&quot;:892.4653937007873}"/>
</p:tagLst>
</file>

<file path=ppt/tags/tag24.xml><?xml version="1.0" encoding="utf-8"?>
<p:tagLst xmlns:p="http://schemas.openxmlformats.org/presentationml/2006/main">
  <p:tag name="KSO_WM_DIAGRAM_VIRTUALLY_FRAME" val="{&quot;height&quot;:433.09007874015754,&quot;left&quot;:44.44830708661416,&quot;top&quot;:104.99023622047244,&quot;width&quot;:892.4653937007873}"/>
</p:tagLst>
</file>

<file path=ppt/tags/tag25.xml><?xml version="1.0" encoding="utf-8"?>
<p:tagLst xmlns:p="http://schemas.openxmlformats.org/presentationml/2006/main">
  <p:tag name="KSO_WM_DIAGRAM_VIRTUALLY_FRAME" val="{&quot;height&quot;:433.09007874015754,&quot;left&quot;:44.44830708661416,&quot;top&quot;:104.99023622047244,&quot;width&quot;:892.4653937007873}"/>
</p:tagLst>
</file>

<file path=ppt/tags/tag26.xml><?xml version="1.0" encoding="utf-8"?>
<p:tagLst xmlns:p="http://schemas.openxmlformats.org/presentationml/2006/main">
  <p:tag name="KSO_WM_DIAGRAM_VIRTUALLY_FRAME" val="{&quot;height&quot;:433.09007874015754,&quot;left&quot;:44.44830708661416,&quot;top&quot;:104.99023622047244,&quot;width&quot;:892.4653937007873}"/>
</p:tagLst>
</file>

<file path=ppt/tags/tag27.xml><?xml version="1.0" encoding="utf-8"?>
<p:tagLst xmlns:p="http://schemas.openxmlformats.org/presentationml/2006/main">
  <p:tag name="KSO_WM_DIAGRAM_VIRTUALLY_FRAME" val="{&quot;height&quot;:433.09007874015754,&quot;left&quot;:44.44830708661416,&quot;top&quot;:104.99023622047244,&quot;width&quot;:892.4653937007873}"/>
</p:tagLst>
</file>

<file path=ppt/tags/tag28.xml><?xml version="1.0" encoding="utf-8"?>
<p:tagLst xmlns:p="http://schemas.openxmlformats.org/presentationml/2006/main">
  <p:tag name="KSO_WM_DIAGRAM_VIRTUALLY_FRAME" val="{&quot;height&quot;:433.09007874015754,&quot;left&quot;:44.44830708661416,&quot;top&quot;:104.99023622047244,&quot;width&quot;:892.4653937007873}"/>
</p:tagLst>
</file>

<file path=ppt/tags/tag29.xml><?xml version="1.0" encoding="utf-8"?>
<p:tagLst xmlns:p="http://schemas.openxmlformats.org/presentationml/2006/main">
  <p:tag name="COMMONDATA" val="eyJoZGlkIjoiNDA0ZTUxM2YxNWFkZDlkNTZiNWZhYzlkMjQxNWY2ZTMifQ=="/>
  <p:tag name="KSO_WPP_MARK_KEY" val="a19b803a-04f7-49ad-a517-4f4615f57881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4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1976</Words>
  <Application>WPS 演示</Application>
  <PresentationFormat>宽屏</PresentationFormat>
  <Paragraphs>162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11</vt:i4>
      </vt:variant>
      <vt:variant>
        <vt:lpstr>幻灯片标题</vt:lpstr>
      </vt:variant>
      <vt:variant>
        <vt:i4>11</vt:i4>
      </vt:variant>
    </vt:vector>
  </HeadingPairs>
  <TitlesOfParts>
    <vt:vector size="48" baseType="lpstr">
      <vt:lpstr>Arial</vt:lpstr>
      <vt:lpstr>宋体</vt:lpstr>
      <vt:lpstr>Wingdings</vt:lpstr>
      <vt:lpstr>Calibri</vt:lpstr>
      <vt:lpstr>黑体</vt:lpstr>
      <vt:lpstr>阿里巴巴普惠体 B</vt:lpstr>
      <vt:lpstr>阿里巴巴普惠体 R</vt:lpstr>
      <vt:lpstr>Segoe UI</vt:lpstr>
      <vt:lpstr>微软雅黑</vt:lpstr>
      <vt:lpstr>Verdana</vt:lpstr>
      <vt:lpstr>阿里巴巴普惠体</vt:lpstr>
      <vt:lpstr>阿里巴巴普惠体 M</vt:lpstr>
      <vt:lpstr>Segoe UI Light</vt:lpstr>
      <vt:lpstr>微软雅黑 Light</vt:lpstr>
      <vt:lpstr>华文楷体</vt:lpstr>
      <vt:lpstr>Open Sans</vt:lpstr>
      <vt:lpstr>Segoe Print</vt:lpstr>
      <vt:lpstr>Wingdings</vt:lpstr>
      <vt:lpstr>Calibri</vt:lpstr>
      <vt:lpstr>仿宋_GB2312</vt:lpstr>
      <vt:lpstr>Arial Unicode MS</vt:lpstr>
      <vt:lpstr>等线</vt:lpstr>
      <vt:lpstr>KSOFA46D468C</vt:lpstr>
      <vt:lpstr>KSOF3626067E</vt:lpstr>
      <vt:lpstr>KSOF36267ADD</vt:lpstr>
      <vt:lpstr>仿宋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1_自定义设计方案</vt:lpstr>
      <vt:lpstr>自定义设计方案</vt:lpstr>
      <vt:lpstr>5_结束页设计方案</vt:lpstr>
      <vt:lpstr>1_正文设计方案</vt:lpstr>
      <vt:lpstr>45_学习目标</vt:lpstr>
      <vt:lpstr>深度学习简介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老酒</cp:lastModifiedBy>
  <cp:revision>2018</cp:revision>
  <dcterms:created xsi:type="dcterms:W3CDTF">2022-09-27T09:38:00Z</dcterms:created>
  <dcterms:modified xsi:type="dcterms:W3CDTF">2026-05-13T14:18:44Z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8F3BE0D789E24AA8A6562930946781AC</vt:lpwstr>
  </property>
  <property fmtid="{D5CDD505-2E9C-101B-9397-08002B2CF9AE}" pid="3" name="KSOProductBuildVer">
    <vt:lpwstr>2052-12.1.0.25865</vt:lpwstr>
  </property>
  <property fmtid="{D5CDD505-2E9C-101B-9397-08002B2CF9AE}" pid="4" name="commondata">
    <vt:lpwstr>eyJoZGlkIjoiMDAzZmIwZjU2YjM3ZmIyZjYxNWQ1NTViMjdhYzBlM2EifQ==</vt:lpwstr>
  </property>
</Properties>
</file>